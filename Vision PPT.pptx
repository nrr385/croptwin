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anrope SemiBold"/>
      <p:regular r:id="rId16"/>
      <p:bold r:id="rId17"/>
    </p:embeddedFont>
    <p:embeddedFont>
      <p:font typeface="Manrope"/>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anropeSemiBold-bold.fntdata"/><Relationship Id="rId16" Type="http://schemas.openxmlformats.org/officeDocument/2006/relationships/font" Target="fonts/ManropeSemiBold-regular.fntdata"/><Relationship Id="rId5" Type="http://schemas.openxmlformats.org/officeDocument/2006/relationships/notesMaster" Target="notesMasters/notesMaster1.xml"/><Relationship Id="rId19" Type="http://schemas.openxmlformats.org/officeDocument/2006/relationships/font" Target="fonts/Manrope-bold.fntdata"/><Relationship Id="rId6" Type="http://schemas.openxmlformats.org/officeDocument/2006/relationships/slide" Target="slides/slide1.xml"/><Relationship Id="rId18" Type="http://schemas.openxmlformats.org/officeDocument/2006/relationships/font" Target="fonts/Manrope-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Artscfghgboard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GB" sz="1600" u="none" cap="none" strike="noStrike">
                <a:solidFill>
                  <a:srgbClr val="202729"/>
                </a:solidFill>
                <a:latin typeface="Manrope SemiBold"/>
                <a:ea typeface="Manrope SemiBold"/>
                <a:cs typeface="Manrope SemiBold"/>
                <a:sym typeface="Manrope SemiBold"/>
              </a:rPr>
              <a:t>Team Name :</a:t>
            </a:r>
            <a:r>
              <a:rPr lang="en-GB" sz="1600">
                <a:solidFill>
                  <a:srgbClr val="202729"/>
                </a:solidFill>
                <a:latin typeface="Manrope SemiBold"/>
                <a:ea typeface="Manrope SemiBold"/>
                <a:cs typeface="Manrope SemiBold"/>
                <a:sym typeface="Manrope SemiBold"/>
              </a:rPr>
              <a:t> TEAM VISTARA</a:t>
            </a:r>
            <a:endParaRPr b="0" i="0" sz="1600" u="none" cap="none" strike="noStrike">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75" y="4298145"/>
            <a:ext cx="8520600" cy="606000"/>
          </a:xfrm>
          <a:prstGeom prst="rect">
            <a:avLst/>
          </a:prstGeom>
          <a:noFill/>
          <a:ln>
            <a:noFill/>
          </a:ln>
        </p:spPr>
        <p:txBody>
          <a:bodyPr anchorCtr="0" anchor="t" bIns="91425" lIns="91425" spcFirstLastPara="1" rIns="91425" wrap="square" tIns="91425">
            <a:normAutofit/>
          </a:bodyPr>
          <a:lstStyle/>
          <a:p>
            <a:pPr indent="0" lvl="0" marL="0" marR="0" rtl="0" algn="l">
              <a:lnSpc>
                <a:spcPct val="70000"/>
              </a:lnSpc>
              <a:spcBef>
                <a:spcPts val="0"/>
              </a:spcBef>
              <a:spcAft>
                <a:spcPts val="0"/>
              </a:spcAft>
              <a:buClr>
                <a:srgbClr val="000000"/>
              </a:buClr>
              <a:buSzPts val="1600"/>
              <a:buFont typeface="Arial"/>
              <a:buNone/>
            </a:pPr>
            <a:r>
              <a:rPr b="0" i="0" lang="en-GB" sz="1600" u="none" cap="none" strike="noStrike">
                <a:solidFill>
                  <a:srgbClr val="202729"/>
                </a:solidFill>
                <a:latin typeface="Manrope SemiBold"/>
                <a:ea typeface="Manrope SemiBold"/>
                <a:cs typeface="Manrope SemiBold"/>
                <a:sym typeface="Manrope SemiBold"/>
              </a:rPr>
              <a:t>Problem Statement : </a:t>
            </a:r>
            <a:r>
              <a:rPr b="0" i="0" lang="en-GB" sz="1500" u="none" cap="none" strike="noStrike">
                <a:solidFill>
                  <a:srgbClr val="202729"/>
                </a:solidFill>
                <a:latin typeface="Manrope SemiBold"/>
                <a:ea typeface="Manrope SemiBold"/>
                <a:cs typeface="Manrope SemiBold"/>
                <a:sym typeface="Manrope SemiBold"/>
              </a:rPr>
              <a:t>Lack of affordable, farm-specific precision agriculture tools for India’s smallholder farmers.</a:t>
            </a:r>
            <a:endParaRPr b="0" i="0" sz="1500" u="none" cap="none" strike="noStrike">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GB" sz="1600" u="none" cap="none" strike="noStrike">
                <a:solidFill>
                  <a:srgbClr val="202729"/>
                </a:solidFill>
                <a:latin typeface="Manrope SemiBold"/>
                <a:ea typeface="Manrope SemiBold"/>
                <a:cs typeface="Manrope SemiBold"/>
                <a:sym typeface="Manrope SemiBold"/>
              </a:rPr>
              <a:t>Team Leader Name :</a:t>
            </a:r>
            <a:r>
              <a:rPr lang="en-GB" sz="1600">
                <a:solidFill>
                  <a:srgbClr val="202729"/>
                </a:solidFill>
                <a:latin typeface="Manrope SemiBold"/>
                <a:ea typeface="Manrope SemiBold"/>
                <a:cs typeface="Manrope SemiBold"/>
                <a:sym typeface="Manrope SemiBold"/>
              </a:rPr>
              <a:t> N ROHITH REDDY</a:t>
            </a:r>
            <a:endParaRPr b="0" i="0" sz="1600" u="none" cap="none" strike="noStrike">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63" name="Google Shape;63;p14"/>
          <p:cNvSpPr txBox="1"/>
          <p:nvPr/>
        </p:nvSpPr>
        <p:spPr>
          <a:xfrm>
            <a:off x="311700" y="863550"/>
            <a:ext cx="8463000" cy="38784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120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Brief about the Idea:  </a:t>
            </a:r>
            <a:r>
              <a:rPr i="0" lang="en-GB" sz="1700" u="none" cap="none" strike="noStrike">
                <a:solidFill>
                  <a:srgbClr val="202729"/>
                </a:solidFill>
                <a:latin typeface="Manrope"/>
                <a:ea typeface="Manrope"/>
                <a:cs typeface="Manrope"/>
                <a:sym typeface="Manrope"/>
              </a:rPr>
              <a:t>CropTwin is a sensor-less digital twin platform that creates virtual representations of smallholder farms using public data such as satellite imagery, soil datasets, and weather information. These digital twins continuously simulate crop conditions and generate localized advisories for farmers without requiring any physical hardware.</a:t>
            </a:r>
            <a:endParaRPr i="0" sz="1700" u="none" cap="none" strike="noStrike">
              <a:solidFill>
                <a:srgbClr val="202729"/>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69" name="Google Shape;69;p15"/>
          <p:cNvSpPr txBox="1"/>
          <p:nvPr/>
        </p:nvSpPr>
        <p:spPr>
          <a:xfrm>
            <a:off x="311700" y="863550"/>
            <a:ext cx="8565600" cy="3981000"/>
          </a:xfrm>
          <a:prstGeom prst="rect">
            <a:avLst/>
          </a:prstGeom>
          <a:noFill/>
          <a:ln>
            <a:noFill/>
          </a:ln>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Clr>
                <a:srgbClr val="000000"/>
              </a:buClr>
              <a:buSzPct val="55000"/>
              <a:buFont typeface="Arial"/>
              <a:buNone/>
            </a:pPr>
            <a:r>
              <a:rPr b="1" i="0" lang="en-GB" sz="1700" u="none" cap="none" strike="noStrike">
                <a:solidFill>
                  <a:srgbClr val="202729"/>
                </a:solidFill>
                <a:latin typeface="Manrope"/>
                <a:ea typeface="Manrope"/>
                <a:cs typeface="Manrope"/>
                <a:sym typeface="Manrope"/>
              </a:rPr>
              <a:t>Your solution should be able to explain the following:</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0"/>
              </a:spcAft>
              <a:buNone/>
            </a:pPr>
            <a:r>
              <a:rPr b="0" i="0" lang="en-GB" sz="1600" u="none" cap="none" strike="noStrike">
                <a:solidFill>
                  <a:srgbClr val="202729"/>
                </a:solidFill>
                <a:latin typeface="Manrope SemiBold"/>
                <a:ea typeface="Manrope SemiBold"/>
                <a:cs typeface="Manrope SemiBold"/>
                <a:sym typeface="Manrope SemiBold"/>
              </a:rPr>
              <a:t>How different is it from any of the other existing ideas? :</a:t>
            </a:r>
            <a:r>
              <a:rPr lang="en-GB" sz="1600">
                <a:solidFill>
                  <a:srgbClr val="202729"/>
                </a:solidFill>
                <a:latin typeface="Manrope SemiBold"/>
                <a:ea typeface="Manrope SemiBold"/>
                <a:cs typeface="Manrope SemiBold"/>
                <a:sym typeface="Manrope SemiBold"/>
              </a:rPr>
              <a:t> </a:t>
            </a:r>
            <a:endParaRPr sz="1600">
              <a:solidFill>
                <a:srgbClr val="202729"/>
              </a:solidFill>
              <a:latin typeface="Manrope SemiBold"/>
              <a:ea typeface="Manrope SemiBold"/>
              <a:cs typeface="Manrope SemiBold"/>
              <a:sym typeface="Manrope SemiBold"/>
            </a:endParaRPr>
          </a:p>
          <a:p>
            <a:pPr indent="-322580" lvl="0" marL="457200" marR="0" rtl="0" algn="l">
              <a:lnSpc>
                <a:spcPct val="100000"/>
              </a:lnSpc>
              <a:spcBef>
                <a:spcPts val="100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No IoT devices or sensors required</a:t>
            </a:r>
            <a:endParaRPr sz="1600">
              <a:solidFill>
                <a:srgbClr val="202729"/>
              </a:solidFill>
              <a:latin typeface="Manrope SemiBold"/>
              <a:ea typeface="Manrope SemiBold"/>
              <a:cs typeface="Manrope SemiBold"/>
              <a:sym typeface="Manrope SemiBold"/>
            </a:endParaRPr>
          </a:p>
          <a:p>
            <a:pPr indent="-322580" lvl="0" marL="457200" rtl="0" algn="l">
              <a:lnSpc>
                <a:spcPct val="100000"/>
              </a:lnSpc>
              <a:spcBef>
                <a:spcPts val="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Designed for fragmented Indian farms</a:t>
            </a:r>
            <a:endParaRPr sz="1600">
              <a:solidFill>
                <a:srgbClr val="202729"/>
              </a:solidFill>
              <a:latin typeface="Manrope SemiBold"/>
              <a:ea typeface="Manrope SemiBold"/>
              <a:cs typeface="Manrope SemiBold"/>
              <a:sym typeface="Manrope SemiBold"/>
            </a:endParaRPr>
          </a:p>
          <a:p>
            <a:pPr indent="-322580" lvl="0" marL="457200" rtl="0" algn="l">
              <a:lnSpc>
                <a:spcPct val="100000"/>
              </a:lnSpc>
              <a:spcBef>
                <a:spcPts val="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Works in low-connectivity regions</a:t>
            </a:r>
            <a:endParaRPr sz="1600">
              <a:solidFill>
                <a:srgbClr val="202729"/>
              </a:solidFill>
              <a:latin typeface="Manrope SemiBold"/>
              <a:ea typeface="Manrope SemiBold"/>
              <a:cs typeface="Manrope SemiBold"/>
              <a:sym typeface="Manrope SemiBold"/>
            </a:endParaRPr>
          </a:p>
          <a:p>
            <a:pPr indent="0" lvl="0" marL="0" marR="0" rtl="0" algn="l">
              <a:lnSpc>
                <a:spcPct val="115000"/>
              </a:lnSpc>
              <a:spcBef>
                <a:spcPts val="1000"/>
              </a:spcBef>
              <a:spcAft>
                <a:spcPts val="0"/>
              </a:spcAft>
              <a:buNone/>
            </a:pPr>
            <a:r>
              <a:rPr b="0" i="0" lang="en-GB" sz="1600" u="none" cap="none" strike="noStrike">
                <a:solidFill>
                  <a:srgbClr val="202729"/>
                </a:solidFill>
                <a:latin typeface="Manrope SemiBold"/>
                <a:ea typeface="Manrope SemiBold"/>
                <a:cs typeface="Manrope SemiBold"/>
                <a:sym typeface="Manrope SemiBold"/>
              </a:rPr>
              <a:t>How will it be able to solve the problem? :</a:t>
            </a:r>
            <a:endParaRPr b="0" i="0" sz="1600" u="none" cap="none" strike="noStrike">
              <a:solidFill>
                <a:srgbClr val="202729"/>
              </a:solidFill>
              <a:latin typeface="Manrope SemiBold"/>
              <a:ea typeface="Manrope SemiBold"/>
              <a:cs typeface="Manrope SemiBold"/>
              <a:sym typeface="Manrope SemiBold"/>
            </a:endParaRPr>
          </a:p>
          <a:p>
            <a:pPr indent="-322580" lvl="0" marL="457200" rtl="0" algn="l">
              <a:lnSpc>
                <a:spcPct val="100000"/>
              </a:lnSpc>
              <a:spcBef>
                <a:spcPts val="100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Uses public datasets to model farm conditions</a:t>
            </a:r>
            <a:endParaRPr sz="1600">
              <a:solidFill>
                <a:srgbClr val="202729"/>
              </a:solidFill>
              <a:latin typeface="Manrope SemiBold"/>
              <a:ea typeface="Manrope SemiBold"/>
              <a:cs typeface="Manrope SemiBold"/>
              <a:sym typeface="Manrope SemiBold"/>
            </a:endParaRPr>
          </a:p>
          <a:p>
            <a:pPr indent="-322580" lvl="0" marL="457200" rtl="0" algn="l">
              <a:lnSpc>
                <a:spcPct val="100000"/>
              </a:lnSpc>
              <a:spcBef>
                <a:spcPts val="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Provides farm-specific advisories instead of generic alerts</a:t>
            </a:r>
            <a:endParaRPr sz="1600">
              <a:solidFill>
                <a:srgbClr val="202729"/>
              </a:solidFill>
              <a:latin typeface="Manrope SemiBold"/>
              <a:ea typeface="Manrope SemiBold"/>
              <a:cs typeface="Manrope SemiBold"/>
              <a:sym typeface="Manrope SemiBold"/>
            </a:endParaRPr>
          </a:p>
          <a:p>
            <a:pPr indent="0" lvl="0" marL="0" marR="0" rtl="0" algn="l">
              <a:lnSpc>
                <a:spcPct val="100000"/>
              </a:lnSpc>
              <a:spcBef>
                <a:spcPts val="1000"/>
              </a:spcBef>
              <a:spcAft>
                <a:spcPts val="0"/>
              </a:spcAft>
              <a:buNone/>
            </a:pPr>
            <a:r>
              <a:rPr b="0" i="0" lang="en-GB" sz="1600" u="none" cap="none" strike="noStrike">
                <a:solidFill>
                  <a:srgbClr val="202729"/>
                </a:solidFill>
                <a:latin typeface="Manrope SemiBold"/>
                <a:ea typeface="Manrope SemiBold"/>
                <a:cs typeface="Manrope SemiBold"/>
                <a:sym typeface="Manrope SemiBold"/>
              </a:rPr>
              <a:t>USP of the proposed solution : </a:t>
            </a:r>
            <a:endParaRPr b="0" i="0" sz="1600" u="none" cap="none" strike="noStrike">
              <a:solidFill>
                <a:srgbClr val="202729"/>
              </a:solidFill>
              <a:latin typeface="Manrope SemiBold"/>
              <a:ea typeface="Manrope SemiBold"/>
              <a:cs typeface="Manrope SemiBold"/>
              <a:sym typeface="Manrope SemiBold"/>
            </a:endParaRPr>
          </a:p>
          <a:p>
            <a:pPr indent="-322580" lvl="0" marL="457200" rtl="0" algn="l">
              <a:lnSpc>
                <a:spcPct val="115000"/>
              </a:lnSpc>
              <a:spcBef>
                <a:spcPts val="100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Digital twins without hardware</a:t>
            </a:r>
            <a:endParaRPr sz="1600">
              <a:solidFill>
                <a:srgbClr val="202729"/>
              </a:solidFill>
              <a:latin typeface="Manrope SemiBold"/>
              <a:ea typeface="Manrope SemiBold"/>
              <a:cs typeface="Manrope SemiBold"/>
              <a:sym typeface="Manrope SemiBold"/>
            </a:endParaRPr>
          </a:p>
          <a:p>
            <a:pPr indent="-322580" lvl="0" marL="457200" rtl="0" algn="l">
              <a:lnSpc>
                <a:spcPct val="115000"/>
              </a:lnSpc>
              <a:spcBef>
                <a:spcPts val="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Offline-first advisory delivery</a:t>
            </a:r>
            <a:endParaRPr sz="1600">
              <a:solidFill>
                <a:srgbClr val="202729"/>
              </a:solidFill>
              <a:latin typeface="Manrope SemiBold"/>
              <a:ea typeface="Manrope SemiBold"/>
              <a:cs typeface="Manrope SemiBold"/>
              <a:sym typeface="Manrope SemiBold"/>
            </a:endParaRPr>
          </a:p>
          <a:p>
            <a:pPr indent="-322580" lvl="0" marL="457200" rtl="0" algn="l">
              <a:lnSpc>
                <a:spcPct val="115000"/>
              </a:lnSpc>
              <a:spcBef>
                <a:spcPts val="0"/>
              </a:spcBef>
              <a:spcAft>
                <a:spcPts val="0"/>
              </a:spcAft>
              <a:buClr>
                <a:srgbClr val="202729"/>
              </a:buClr>
              <a:buSzPct val="100000"/>
              <a:buFont typeface="Manrope SemiBold"/>
              <a:buChar char="●"/>
            </a:pPr>
            <a:r>
              <a:rPr lang="en-GB" sz="1600">
                <a:solidFill>
                  <a:srgbClr val="202729"/>
                </a:solidFill>
                <a:latin typeface="Manrope SemiBold"/>
                <a:ea typeface="Manrope SemiBold"/>
                <a:cs typeface="Manrope SemiBold"/>
                <a:sym typeface="Manrope SemiBold"/>
              </a:rPr>
              <a:t>Scalable to millions of farms</a:t>
            </a:r>
            <a:endParaRPr sz="1600">
              <a:solidFill>
                <a:srgbClr val="202729"/>
              </a:solidFill>
              <a:latin typeface="Manrope SemiBold"/>
              <a:ea typeface="Manrope SemiBold"/>
              <a:cs typeface="Manrope SemiBold"/>
              <a:sym typeface="Manrope SemiBold"/>
            </a:endParaRPr>
          </a:p>
          <a:p>
            <a:pPr indent="0" lvl="0" marL="0" marR="0" rtl="0" algn="l">
              <a:lnSpc>
                <a:spcPct val="115000"/>
              </a:lnSpc>
              <a:spcBef>
                <a:spcPts val="0"/>
              </a:spcBef>
              <a:spcAft>
                <a:spcPts val="0"/>
              </a:spcAft>
              <a:buNone/>
            </a:pPr>
            <a:r>
              <a:t/>
            </a:r>
            <a:endParaRPr sz="1600">
              <a:solidFill>
                <a:srgbClr val="202729"/>
              </a:solidFill>
              <a:latin typeface="Manrope SemiBold"/>
              <a:ea typeface="Manrope SemiBold"/>
              <a:cs typeface="Manrope SemiBold"/>
              <a:sym typeface="Manrope SemiBold"/>
            </a:endParaRPr>
          </a:p>
          <a:p>
            <a:pPr indent="0" lvl="0" marL="0" marR="0" rtl="0" algn="l">
              <a:lnSpc>
                <a:spcPct val="115000"/>
              </a:lnSpc>
              <a:spcBef>
                <a:spcPts val="1200"/>
              </a:spcBef>
              <a:spcAft>
                <a:spcPts val="1200"/>
              </a:spcAft>
              <a:buClr>
                <a:srgbClr val="000000"/>
              </a:buClr>
              <a:buSzPct val="58437"/>
              <a:buFont typeface="Arial"/>
              <a:buNone/>
            </a:pPr>
            <a:r>
              <a:t/>
            </a:r>
            <a:endParaRPr b="0" i="0" sz="1600" u="none" cap="none" strike="noStrike">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75" name="Google Shape;75;p16"/>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List of features offered by the solution :</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0"/>
              </a:spcAft>
              <a:buClr>
                <a:srgbClr val="000000"/>
              </a:buClr>
              <a:buSzPts val="935"/>
              <a:buFont typeface="Arial"/>
              <a:buNone/>
            </a:pPr>
            <a:r>
              <a:rPr lang="en-GB">
                <a:solidFill>
                  <a:srgbClr val="434343"/>
                </a:solidFill>
                <a:latin typeface="Manrope"/>
                <a:ea typeface="Manrope"/>
                <a:cs typeface="Manrope"/>
                <a:sym typeface="Manrope"/>
              </a:rPr>
              <a:t>Virtual farm twin creation</a:t>
            </a:r>
            <a:endParaRPr>
              <a:solidFill>
                <a:srgbClr val="434343"/>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lang="en-GB">
                <a:solidFill>
                  <a:srgbClr val="434343"/>
                </a:solidFill>
                <a:latin typeface="Manrope"/>
                <a:ea typeface="Manrope"/>
                <a:cs typeface="Manrope"/>
                <a:sym typeface="Manrope"/>
              </a:rPr>
              <a:t>Crop stress &amp; pest risk alerts</a:t>
            </a:r>
            <a:endParaRPr>
              <a:solidFill>
                <a:srgbClr val="434343"/>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lang="en-GB">
                <a:solidFill>
                  <a:srgbClr val="434343"/>
                </a:solidFill>
                <a:latin typeface="Manrope"/>
                <a:ea typeface="Manrope"/>
                <a:cs typeface="Manrope"/>
                <a:sym typeface="Manrope"/>
              </a:rPr>
              <a:t>SMS / IVR / voice-based advisories</a:t>
            </a:r>
            <a:endParaRPr>
              <a:solidFill>
                <a:srgbClr val="434343"/>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lang="en-GB">
                <a:solidFill>
                  <a:srgbClr val="434343"/>
                </a:solidFill>
                <a:latin typeface="Manrope"/>
                <a:ea typeface="Manrope"/>
                <a:cs typeface="Manrope"/>
                <a:sym typeface="Manrope"/>
              </a:rPr>
              <a:t>Regional agricultural insights</a:t>
            </a:r>
            <a:endParaRPr>
              <a:solidFill>
                <a:srgbClr val="434343"/>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lang="en-GB">
                <a:solidFill>
                  <a:srgbClr val="434343"/>
                </a:solidFill>
                <a:latin typeface="Manrope"/>
                <a:ea typeface="Manrope"/>
                <a:cs typeface="Manrope"/>
                <a:sym typeface="Manrope"/>
              </a:rPr>
              <a:t>Multi-language support</a:t>
            </a:r>
            <a:endParaRPr>
              <a:solidFill>
                <a:srgbClr val="434343"/>
              </a:solidFill>
              <a:latin typeface="Manrope"/>
              <a:ea typeface="Manrope"/>
              <a:cs typeface="Manrope"/>
              <a:sym typeface="Manrope"/>
            </a:endParaRPr>
          </a:p>
          <a:p>
            <a:pPr indent="0" lvl="0" marL="0" marR="0" rtl="0" algn="l">
              <a:lnSpc>
                <a:spcPct val="115000"/>
              </a:lnSpc>
              <a:spcBef>
                <a:spcPts val="1200"/>
              </a:spcBef>
              <a:spcAft>
                <a:spcPts val="1200"/>
              </a:spcAft>
              <a:buClr>
                <a:srgbClr val="000000"/>
              </a:buClr>
              <a:buSzPts val="935"/>
              <a:buFont typeface="Arial"/>
              <a:buNone/>
            </a:pPr>
            <a:r>
              <a:rPr b="0" i="0" lang="en-GB" sz="1400" u="none" cap="none" strike="noStrike">
                <a:solidFill>
                  <a:srgbClr val="434343"/>
                </a:solidFill>
                <a:latin typeface="Manrope"/>
                <a:ea typeface="Manrope"/>
                <a:cs typeface="Manrope"/>
                <a:sym typeface="Manrope"/>
              </a:rPr>
              <a:t>.</a:t>
            </a:r>
            <a:endParaRPr b="0" i="0" sz="1400" u="none" cap="none" strike="noStrike">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1" name="Google Shape;81;p17"/>
          <p:cNvSpPr txBox="1"/>
          <p:nvPr/>
        </p:nvSpPr>
        <p:spPr>
          <a:xfrm>
            <a:off x="0" y="547000"/>
            <a:ext cx="8602800" cy="4515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Process flow diagram or Use-case diagram</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1200"/>
              </a:spcAft>
              <a:buClr>
                <a:srgbClr val="000000"/>
              </a:buClr>
              <a:buSzPts val="935"/>
              <a:buFont typeface="Arial"/>
              <a:buNone/>
            </a:pPr>
            <a:r>
              <a:t/>
            </a:r>
            <a:endParaRPr b="0" i="0" sz="1400" u="none" cap="none" strike="noStrike">
              <a:solidFill>
                <a:srgbClr val="434343"/>
              </a:solidFill>
              <a:latin typeface="Manrope"/>
              <a:ea typeface="Manrope"/>
              <a:cs typeface="Manrope"/>
              <a:sym typeface="Manrope"/>
            </a:endParaRPr>
          </a:p>
        </p:txBody>
      </p:sp>
      <p:sp>
        <p:nvSpPr>
          <p:cNvPr id="82" name="Google Shape;82;p17"/>
          <p:cNvSpPr/>
          <p:nvPr/>
        </p:nvSpPr>
        <p:spPr>
          <a:xfrm>
            <a:off x="935425" y="1048450"/>
            <a:ext cx="1804500" cy="45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Farmer registration</a:t>
            </a:r>
            <a:endParaRPr/>
          </a:p>
        </p:txBody>
      </p:sp>
      <p:sp>
        <p:nvSpPr>
          <p:cNvPr id="83" name="Google Shape;83;p17"/>
          <p:cNvSpPr/>
          <p:nvPr/>
        </p:nvSpPr>
        <p:spPr>
          <a:xfrm>
            <a:off x="1650475" y="1613025"/>
            <a:ext cx="374400" cy="454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7"/>
          <p:cNvSpPr/>
          <p:nvPr/>
        </p:nvSpPr>
        <p:spPr>
          <a:xfrm>
            <a:off x="935425" y="2177600"/>
            <a:ext cx="1804500" cy="45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Farm twin initialization</a:t>
            </a:r>
            <a:endParaRPr/>
          </a:p>
        </p:txBody>
      </p:sp>
      <p:sp>
        <p:nvSpPr>
          <p:cNvPr id="85" name="Google Shape;85;p17"/>
          <p:cNvSpPr/>
          <p:nvPr/>
        </p:nvSpPr>
        <p:spPr>
          <a:xfrm>
            <a:off x="1650475" y="2742175"/>
            <a:ext cx="374400" cy="454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7"/>
          <p:cNvSpPr/>
          <p:nvPr/>
        </p:nvSpPr>
        <p:spPr>
          <a:xfrm>
            <a:off x="935425" y="3306750"/>
            <a:ext cx="1804500" cy="45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Public data ingestion</a:t>
            </a:r>
            <a:endParaRPr/>
          </a:p>
        </p:txBody>
      </p:sp>
      <p:sp>
        <p:nvSpPr>
          <p:cNvPr id="87" name="Google Shape;87;p17"/>
          <p:cNvSpPr/>
          <p:nvPr/>
        </p:nvSpPr>
        <p:spPr>
          <a:xfrm>
            <a:off x="1650475" y="3871325"/>
            <a:ext cx="374400" cy="454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7"/>
          <p:cNvSpPr/>
          <p:nvPr/>
        </p:nvSpPr>
        <p:spPr>
          <a:xfrm>
            <a:off x="935425" y="4435900"/>
            <a:ext cx="1804500" cy="45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Crop risk simulation</a:t>
            </a:r>
            <a:endParaRPr/>
          </a:p>
        </p:txBody>
      </p:sp>
      <p:sp>
        <p:nvSpPr>
          <p:cNvPr id="89" name="Google Shape;89;p17"/>
          <p:cNvSpPr/>
          <p:nvPr/>
        </p:nvSpPr>
        <p:spPr>
          <a:xfrm>
            <a:off x="2874975" y="4435900"/>
            <a:ext cx="540000" cy="454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7"/>
          <p:cNvSpPr/>
          <p:nvPr/>
        </p:nvSpPr>
        <p:spPr>
          <a:xfrm>
            <a:off x="3669763" y="4435900"/>
            <a:ext cx="1804500" cy="45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Advisory generation</a:t>
            </a:r>
            <a:endParaRPr/>
          </a:p>
        </p:txBody>
      </p:sp>
      <p:sp>
        <p:nvSpPr>
          <p:cNvPr id="91" name="Google Shape;91;p17"/>
          <p:cNvSpPr/>
          <p:nvPr/>
        </p:nvSpPr>
        <p:spPr>
          <a:xfrm>
            <a:off x="4357962" y="3717900"/>
            <a:ext cx="428100" cy="614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7"/>
          <p:cNvSpPr/>
          <p:nvPr/>
        </p:nvSpPr>
        <p:spPr>
          <a:xfrm>
            <a:off x="3636050" y="3086000"/>
            <a:ext cx="1804500" cy="52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SMS / Voice delivery</a:t>
            </a:r>
            <a:endParaRPr/>
          </a:p>
        </p:txBody>
      </p:sp>
      <p:sp>
        <p:nvSpPr>
          <p:cNvPr id="93" name="Google Shape;93;p17"/>
          <p:cNvSpPr/>
          <p:nvPr/>
        </p:nvSpPr>
        <p:spPr>
          <a:xfrm>
            <a:off x="4324250" y="2337225"/>
            <a:ext cx="428100" cy="614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7"/>
          <p:cNvSpPr/>
          <p:nvPr/>
        </p:nvSpPr>
        <p:spPr>
          <a:xfrm>
            <a:off x="3636050" y="1674550"/>
            <a:ext cx="1804500" cy="52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Optional farmer feedback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8"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0" name="Google Shape;100;p18"/>
          <p:cNvSpPr txBox="1"/>
          <p:nvPr/>
        </p:nvSpPr>
        <p:spPr>
          <a:xfrm>
            <a:off x="137475" y="581875"/>
            <a:ext cx="8826300" cy="44193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Architecture diagram of the proposed solution:</a:t>
            </a:r>
            <a:endParaRPr b="0" i="0" sz="1400" u="none" cap="none" strike="noStrike">
              <a:solidFill>
                <a:srgbClr val="434343"/>
              </a:solidFill>
              <a:latin typeface="Manrope"/>
              <a:ea typeface="Manrope"/>
              <a:cs typeface="Manrope"/>
              <a:sym typeface="Manrope"/>
            </a:endParaRPr>
          </a:p>
        </p:txBody>
      </p:sp>
      <p:sp>
        <p:nvSpPr>
          <p:cNvPr id="101" name="Google Shape;101;p18"/>
          <p:cNvSpPr/>
          <p:nvPr/>
        </p:nvSpPr>
        <p:spPr>
          <a:xfrm>
            <a:off x="542575" y="1453400"/>
            <a:ext cx="20133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Data Sources</a:t>
            </a:r>
            <a:endParaRPr/>
          </a:p>
        </p:txBody>
      </p:sp>
      <p:sp>
        <p:nvSpPr>
          <p:cNvPr id="102" name="Google Shape;102;p18"/>
          <p:cNvSpPr/>
          <p:nvPr/>
        </p:nvSpPr>
        <p:spPr>
          <a:xfrm>
            <a:off x="3407900" y="1453400"/>
            <a:ext cx="20133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Digital Twin Engine</a:t>
            </a:r>
            <a:endParaRPr/>
          </a:p>
        </p:txBody>
      </p:sp>
      <p:sp>
        <p:nvSpPr>
          <p:cNvPr id="103" name="Google Shape;103;p18"/>
          <p:cNvSpPr/>
          <p:nvPr/>
        </p:nvSpPr>
        <p:spPr>
          <a:xfrm>
            <a:off x="6273225" y="1453400"/>
            <a:ext cx="20133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Advisory Engine</a:t>
            </a:r>
            <a:endParaRPr/>
          </a:p>
        </p:txBody>
      </p:sp>
      <p:sp>
        <p:nvSpPr>
          <p:cNvPr id="104" name="Google Shape;104;p18"/>
          <p:cNvSpPr/>
          <p:nvPr/>
        </p:nvSpPr>
        <p:spPr>
          <a:xfrm>
            <a:off x="6273225" y="2940025"/>
            <a:ext cx="20133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Farmer Interface</a:t>
            </a:r>
            <a:endParaRPr/>
          </a:p>
        </p:txBody>
      </p:sp>
      <p:sp>
        <p:nvSpPr>
          <p:cNvPr id="105" name="Google Shape;105;p18"/>
          <p:cNvSpPr/>
          <p:nvPr/>
        </p:nvSpPr>
        <p:spPr>
          <a:xfrm>
            <a:off x="3407900" y="2995975"/>
            <a:ext cx="20133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AWS Cloud Infrastructure</a:t>
            </a:r>
            <a:endParaRPr/>
          </a:p>
        </p:txBody>
      </p:sp>
      <p:sp>
        <p:nvSpPr>
          <p:cNvPr id="106" name="Google Shape;106;p18"/>
          <p:cNvSpPr/>
          <p:nvPr/>
        </p:nvSpPr>
        <p:spPr>
          <a:xfrm>
            <a:off x="2676936" y="1631300"/>
            <a:ext cx="609900" cy="356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8"/>
          <p:cNvSpPr/>
          <p:nvPr/>
        </p:nvSpPr>
        <p:spPr>
          <a:xfrm>
            <a:off x="5542274" y="1631300"/>
            <a:ext cx="609900" cy="356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8"/>
          <p:cNvSpPr/>
          <p:nvPr/>
        </p:nvSpPr>
        <p:spPr>
          <a:xfrm rot="5400000">
            <a:off x="6974933" y="2374624"/>
            <a:ext cx="609900" cy="356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8"/>
          <p:cNvSpPr/>
          <p:nvPr/>
        </p:nvSpPr>
        <p:spPr>
          <a:xfrm rot="10800000">
            <a:off x="5542274" y="3173875"/>
            <a:ext cx="609900" cy="356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9"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5" name="Google Shape;115;p19"/>
          <p:cNvSpPr txBox="1"/>
          <p:nvPr/>
        </p:nvSpPr>
        <p:spPr>
          <a:xfrm>
            <a:off x="311700" y="863550"/>
            <a:ext cx="8160900" cy="36696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15000"/>
              </a:lnSpc>
              <a:spcBef>
                <a:spcPts val="0"/>
              </a:spcBef>
              <a:spcAft>
                <a:spcPts val="0"/>
              </a:spcAft>
              <a:buNone/>
            </a:pPr>
            <a:r>
              <a:rPr b="1" i="0" lang="en-GB" sz="1700" u="none" cap="none" strike="noStrike">
                <a:solidFill>
                  <a:srgbClr val="202729"/>
                </a:solidFill>
                <a:latin typeface="Manrope"/>
                <a:ea typeface="Manrope"/>
                <a:cs typeface="Manrope"/>
                <a:sym typeface="Manrope"/>
              </a:rPr>
              <a:t>Technologies to be used in the solution:</a:t>
            </a:r>
            <a:endParaRPr b="1" i="0" sz="1700" u="none" cap="none" strike="noStrike">
              <a:solidFill>
                <a:srgbClr val="202729"/>
              </a:solidFill>
              <a:latin typeface="Manrope"/>
              <a:ea typeface="Manrope"/>
              <a:cs typeface="Manrope"/>
              <a:sym typeface="Manrope"/>
            </a:endParaRPr>
          </a:p>
          <a:p>
            <a:pPr indent="-323335" lvl="0" marL="457200" rtl="0" algn="l">
              <a:lnSpc>
                <a:spcPct val="115000"/>
              </a:lnSpc>
              <a:spcBef>
                <a:spcPts val="120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AWS Lambda</a:t>
            </a:r>
            <a:br>
              <a:rPr lang="en-GB" sz="1491">
                <a:solidFill>
                  <a:srgbClr val="202729"/>
                </a:solidFill>
                <a:latin typeface="Manrope"/>
                <a:ea typeface="Manrope"/>
                <a:cs typeface="Manrope"/>
                <a:sym typeface="Manrope"/>
              </a:rPr>
            </a:br>
            <a:endParaRPr sz="1491">
              <a:solidFill>
                <a:srgbClr val="202729"/>
              </a:solidFill>
              <a:latin typeface="Manrope"/>
              <a:ea typeface="Manrope"/>
              <a:cs typeface="Manrope"/>
              <a:sym typeface="Manrope"/>
            </a:endParaRPr>
          </a:p>
          <a:p>
            <a:pPr indent="-323335" lvl="0" marL="457200" rtl="0" algn="l">
              <a:lnSpc>
                <a:spcPct val="115000"/>
              </a:lnSpc>
              <a:spcBef>
                <a:spcPts val="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AWS Step Functions</a:t>
            </a:r>
            <a:br>
              <a:rPr lang="en-GB" sz="1491">
                <a:solidFill>
                  <a:srgbClr val="202729"/>
                </a:solidFill>
                <a:latin typeface="Manrope"/>
                <a:ea typeface="Manrope"/>
                <a:cs typeface="Manrope"/>
                <a:sym typeface="Manrope"/>
              </a:rPr>
            </a:br>
            <a:endParaRPr sz="1491">
              <a:solidFill>
                <a:srgbClr val="202729"/>
              </a:solidFill>
              <a:latin typeface="Manrope"/>
              <a:ea typeface="Manrope"/>
              <a:cs typeface="Manrope"/>
              <a:sym typeface="Manrope"/>
            </a:endParaRPr>
          </a:p>
          <a:p>
            <a:pPr indent="-323335" lvl="0" marL="457200" rtl="0" algn="l">
              <a:lnSpc>
                <a:spcPct val="115000"/>
              </a:lnSpc>
              <a:spcBef>
                <a:spcPts val="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Amazon DynamoDB</a:t>
            </a:r>
            <a:br>
              <a:rPr lang="en-GB" sz="1491">
                <a:solidFill>
                  <a:srgbClr val="202729"/>
                </a:solidFill>
                <a:latin typeface="Manrope"/>
                <a:ea typeface="Manrope"/>
                <a:cs typeface="Manrope"/>
                <a:sym typeface="Manrope"/>
              </a:rPr>
            </a:br>
            <a:endParaRPr sz="1491">
              <a:solidFill>
                <a:srgbClr val="202729"/>
              </a:solidFill>
              <a:latin typeface="Manrope"/>
              <a:ea typeface="Manrope"/>
              <a:cs typeface="Manrope"/>
              <a:sym typeface="Manrope"/>
            </a:endParaRPr>
          </a:p>
          <a:p>
            <a:pPr indent="-323335" lvl="0" marL="457200" rtl="0" algn="l">
              <a:lnSpc>
                <a:spcPct val="115000"/>
              </a:lnSpc>
              <a:spcBef>
                <a:spcPts val="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Amazon S3</a:t>
            </a:r>
            <a:br>
              <a:rPr lang="en-GB" sz="1491">
                <a:solidFill>
                  <a:srgbClr val="202729"/>
                </a:solidFill>
                <a:latin typeface="Manrope"/>
                <a:ea typeface="Manrope"/>
                <a:cs typeface="Manrope"/>
                <a:sym typeface="Manrope"/>
              </a:rPr>
            </a:br>
            <a:endParaRPr sz="1491">
              <a:solidFill>
                <a:srgbClr val="202729"/>
              </a:solidFill>
              <a:latin typeface="Manrope"/>
              <a:ea typeface="Manrope"/>
              <a:cs typeface="Manrope"/>
              <a:sym typeface="Manrope"/>
            </a:endParaRPr>
          </a:p>
          <a:p>
            <a:pPr indent="-323335" lvl="0" marL="457200" rtl="0" algn="l">
              <a:lnSpc>
                <a:spcPct val="115000"/>
              </a:lnSpc>
              <a:spcBef>
                <a:spcPts val="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Amazon EventBridge</a:t>
            </a:r>
            <a:br>
              <a:rPr lang="en-GB" sz="1491">
                <a:solidFill>
                  <a:srgbClr val="202729"/>
                </a:solidFill>
                <a:latin typeface="Manrope"/>
                <a:ea typeface="Manrope"/>
                <a:cs typeface="Manrope"/>
                <a:sym typeface="Manrope"/>
              </a:rPr>
            </a:br>
            <a:endParaRPr sz="1491">
              <a:solidFill>
                <a:srgbClr val="202729"/>
              </a:solidFill>
              <a:latin typeface="Manrope"/>
              <a:ea typeface="Manrope"/>
              <a:cs typeface="Manrope"/>
              <a:sym typeface="Manrope"/>
            </a:endParaRPr>
          </a:p>
          <a:p>
            <a:pPr indent="-323335" lvl="0" marL="457200" rtl="0" algn="l">
              <a:lnSpc>
                <a:spcPct val="115000"/>
              </a:lnSpc>
              <a:spcBef>
                <a:spcPts val="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Amazon SNS</a:t>
            </a:r>
            <a:br>
              <a:rPr lang="en-GB" sz="1491">
                <a:solidFill>
                  <a:srgbClr val="202729"/>
                </a:solidFill>
                <a:latin typeface="Manrope"/>
                <a:ea typeface="Manrope"/>
                <a:cs typeface="Manrope"/>
                <a:sym typeface="Manrope"/>
              </a:rPr>
            </a:br>
            <a:endParaRPr sz="1491">
              <a:solidFill>
                <a:srgbClr val="202729"/>
              </a:solidFill>
              <a:latin typeface="Manrope"/>
              <a:ea typeface="Manrope"/>
              <a:cs typeface="Manrope"/>
              <a:sym typeface="Manrope"/>
            </a:endParaRPr>
          </a:p>
          <a:p>
            <a:pPr indent="-323335" lvl="0" marL="457200" rtl="0" algn="l">
              <a:lnSpc>
                <a:spcPct val="115000"/>
              </a:lnSpc>
              <a:spcBef>
                <a:spcPts val="0"/>
              </a:spcBef>
              <a:spcAft>
                <a:spcPts val="0"/>
              </a:spcAft>
              <a:buClr>
                <a:srgbClr val="202729"/>
              </a:buClr>
              <a:buSzPts val="1492"/>
              <a:buFont typeface="Manrope"/>
              <a:buChar char="●"/>
            </a:pPr>
            <a:r>
              <a:rPr lang="en-GB" sz="1491">
                <a:solidFill>
                  <a:srgbClr val="202729"/>
                </a:solidFill>
                <a:latin typeface="Manrope"/>
                <a:ea typeface="Manrope"/>
                <a:cs typeface="Manrope"/>
                <a:sym typeface="Manrope"/>
              </a:rPr>
              <a:t>API Gateway</a:t>
            </a:r>
            <a:endParaRPr sz="1491">
              <a:solidFill>
                <a:srgbClr val="202729"/>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0"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1" name="Google Shape;121;p20"/>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Estimated implementation cost (optional):</a:t>
            </a:r>
            <a:endParaRPr b="1" i="0" sz="1700" u="none" cap="none" strike="noStrike">
              <a:solidFill>
                <a:srgbClr val="202729"/>
              </a:solidFill>
              <a:latin typeface="Manrope"/>
              <a:ea typeface="Manrope"/>
              <a:cs typeface="Manrope"/>
              <a:sym typeface="Manrope"/>
            </a:endParaRPr>
          </a:p>
          <a:p>
            <a:pPr indent="-336550" lvl="0" marL="457200" rtl="0" algn="l">
              <a:lnSpc>
                <a:spcPct val="150000"/>
              </a:lnSpc>
              <a:spcBef>
                <a:spcPts val="1200"/>
              </a:spcBef>
              <a:spcAft>
                <a:spcPts val="0"/>
              </a:spcAft>
              <a:buClr>
                <a:srgbClr val="202729"/>
              </a:buClr>
              <a:buSzPts val="1700"/>
              <a:buFont typeface="Manrope"/>
              <a:buChar char="●"/>
            </a:pPr>
            <a:r>
              <a:rPr lang="en-GB" sz="1700">
                <a:solidFill>
                  <a:srgbClr val="202729"/>
                </a:solidFill>
                <a:latin typeface="Manrope"/>
                <a:ea typeface="Manrope"/>
                <a:cs typeface="Manrope"/>
                <a:sym typeface="Manrope"/>
              </a:rPr>
              <a:t>Low initial cost due to no hardware</a:t>
            </a:r>
            <a:endParaRPr sz="1700">
              <a:solidFill>
                <a:srgbClr val="202729"/>
              </a:solidFill>
              <a:latin typeface="Manrope"/>
              <a:ea typeface="Manrope"/>
              <a:cs typeface="Manrope"/>
              <a:sym typeface="Manrope"/>
            </a:endParaRPr>
          </a:p>
          <a:p>
            <a:pPr indent="-336550" lvl="0" marL="457200" rtl="0" algn="l">
              <a:lnSpc>
                <a:spcPct val="150000"/>
              </a:lnSpc>
              <a:spcBef>
                <a:spcPts val="0"/>
              </a:spcBef>
              <a:spcAft>
                <a:spcPts val="0"/>
              </a:spcAft>
              <a:buClr>
                <a:srgbClr val="202729"/>
              </a:buClr>
              <a:buSzPts val="1700"/>
              <a:buFont typeface="Manrope"/>
              <a:buChar char="●"/>
            </a:pPr>
            <a:r>
              <a:rPr lang="en-GB" sz="1700">
                <a:solidFill>
                  <a:srgbClr val="202729"/>
                </a:solidFill>
                <a:latin typeface="Manrope"/>
                <a:ea typeface="Manrope"/>
                <a:cs typeface="Manrope"/>
                <a:sym typeface="Manrope"/>
              </a:rPr>
              <a:t>Pay-as-you-go cloud infrastructure</a:t>
            </a:r>
            <a:endParaRPr sz="1700">
              <a:solidFill>
                <a:srgbClr val="202729"/>
              </a:solidFill>
              <a:latin typeface="Manrope"/>
              <a:ea typeface="Manrope"/>
              <a:cs typeface="Manrope"/>
              <a:sym typeface="Manrope"/>
            </a:endParaRPr>
          </a:p>
          <a:p>
            <a:pPr indent="-336550" lvl="0" marL="457200" rtl="0" algn="l">
              <a:lnSpc>
                <a:spcPct val="150000"/>
              </a:lnSpc>
              <a:spcBef>
                <a:spcPts val="0"/>
              </a:spcBef>
              <a:spcAft>
                <a:spcPts val="0"/>
              </a:spcAft>
              <a:buClr>
                <a:srgbClr val="202729"/>
              </a:buClr>
              <a:buSzPts val="1700"/>
              <a:buFont typeface="Manrope"/>
              <a:buChar char="●"/>
            </a:pPr>
            <a:r>
              <a:rPr lang="en-GB" sz="1700">
                <a:solidFill>
                  <a:srgbClr val="202729"/>
                </a:solidFill>
                <a:latin typeface="Manrope"/>
                <a:ea typeface="Manrope"/>
                <a:cs typeface="Manrope"/>
                <a:sym typeface="Manrope"/>
              </a:rPr>
              <a:t>Cost efficient at national scale</a:t>
            </a:r>
            <a:endParaRPr sz="1700">
              <a:solidFill>
                <a:srgbClr val="202729"/>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1"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7" name="Google Shape;127;p21"/>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GB" sz="1700" u="none" cap="none" strike="noStrike">
                <a:solidFill>
                  <a:srgbClr val="202729"/>
                </a:solidFill>
                <a:latin typeface="Manrope"/>
                <a:ea typeface="Manrope"/>
                <a:cs typeface="Manrope"/>
                <a:sym typeface="Manrope"/>
              </a:rPr>
              <a:t>Add as per the requirements for the hackathon</a:t>
            </a:r>
            <a:endParaRPr b="1" i="0" sz="1700" u="none" cap="none" strike="noStrike">
              <a:solidFill>
                <a:srgbClr val="202729"/>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Impact:</a:t>
            </a:r>
            <a:endParaRPr b="1" sz="16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Reduced crop loss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Inclusion of marginal farmers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Data-driven agriculture for India</a:t>
            </a:r>
            <a:endParaRPr sz="15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GB" sz="1600">
                <a:solidFill>
                  <a:schemeClr val="dk1"/>
                </a:solidFill>
              </a:rPr>
              <a:t>Conclusion:</a:t>
            </a:r>
            <a:br>
              <a:rPr b="1" lang="en-GB" sz="1500">
                <a:solidFill>
                  <a:schemeClr val="dk1"/>
                </a:solidFill>
              </a:rPr>
            </a:br>
            <a:r>
              <a:rPr lang="en-GB" sz="1500">
                <a:solidFill>
                  <a:schemeClr val="dk1"/>
                </a:solidFill>
              </a:rPr>
              <a:t> CropTwin enables precision agriculture without barriers, making advanced farming intelligence accessible to every Indian farme</a:t>
            </a:r>
            <a:endParaRPr b="0" i="0" sz="1500" u="none" cap="none" strike="noStrike">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2" title="AI for Bharddat BANNER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